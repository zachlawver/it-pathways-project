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3197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TRACE as a proposed industrial IT solution to make PLC program changes visible and reviewable.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problem in plain terms: a PLC may be changed during troubleshooting, but the next technician may not know what was changed or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that the demonstration is functional for manual L5X upload and comparison. Scheduled direct PLC retrieval is a planned workflow in the architecture, not yet validated in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 to right: industrial network to monitoring to web app; backup manager and L5X parsing feed comparison; SQL records metadata; file storage keeps L5X; pending changes return to the web app. Automatic scheduled retrieval is conceptual, not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monitor reads PLC identity over EtherNet/IP and sends it to the web application. Do not claim full legacy compatibility is already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separation between metadata in SQL and L5X program files on disk. Note that the actual prototype uses manual uploads.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SQL database records the comparison history while program files remain in file storage. Do not imply a validated permanent pending-change table exists unless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transparent: scheduled controller uploads and automatic change detection are the target architecture, not completed prototype functionality. Manual L5X comparison and retain/discard flow have been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 is an earlier comparison capture; current renderer now highlights changed instructions in the SVG. Demonstrate current live app for the highlighting and retention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risks: cybersecurity, missed or incorrect comparisons, corrupt files, loss of SQL/file synchronization, and unvalidated automatic uploads. Explain the controls needed before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planning estimate, not a vendor quote. Software license costs are zero but engineering labor dominates. Development assumes the existing prototype scope. Larger deployments, security hardening and automatic PLC upload capability add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7C99-1789-0E8A-EE0C-11056689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2AF0E4-9071-E12C-EAA8-7AEDE7932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45544-6AB9-9F8F-F5B4-55AAE3590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planning estimate, not a vendor quote. Software license costs are zero but engineering labor dominates. Development assumes the existing prototype scope. Larger deployments, security hardening and automatic PLC upload capability add cost.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76C21-629A-7D17-4891-9B46DF257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74194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790675" y="4444741"/>
            <a:ext cx="8610341" cy="381643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BEDAE8"/>
                </a:solidFill>
                <a:latin typeface="Aptos"/>
              </a:defRPr>
            </a:pPr>
            <a:r>
              <a:rPr lang="en-US" dirty="0">
                <a:solidFill>
                  <a:srgbClr val="FFFFFF"/>
                </a:solidFill>
                <a:latin typeface="Aptos"/>
              </a:rPr>
              <a:t>PLC Tracking </a:t>
            </a: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lang="en-US" dirty="0">
                <a:solidFill>
                  <a:srgbClr val="FFFFFF"/>
                </a:solidFill>
                <a:latin typeface="Aptos"/>
              </a:rPr>
              <a:t>Revision Management</a:t>
            </a:r>
            <a:r>
              <a:rPr dirty="0">
                <a:solidFill>
                  <a:srgbClr val="FFFFFF"/>
                </a:solidFill>
                <a:latin typeface="Aptos"/>
              </a:rPr>
              <a:t>  •  </a:t>
            </a:r>
            <a:r>
              <a:rPr lang="en-US" dirty="0">
                <a:solidFill>
                  <a:srgbClr val="FFFFFF"/>
                </a:solidFill>
                <a:latin typeface="Aptos"/>
              </a:rPr>
              <a:t>Auditing</a:t>
            </a:r>
            <a:r>
              <a:rPr dirty="0">
                <a:solidFill>
                  <a:srgbClr val="FFFFFF"/>
                </a:solidFill>
                <a:latin typeface="Aptos"/>
              </a:rPr>
              <a:t>  •  </a:t>
            </a:r>
            <a:r>
              <a:rPr lang="en-US" dirty="0">
                <a:solidFill>
                  <a:srgbClr val="FFFFFF"/>
                </a:solidFill>
                <a:latin typeface="Aptos"/>
              </a:rPr>
              <a:t>Comparison • Evaluation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271521" y="5925312"/>
            <a:ext cx="3648651" cy="32008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Fina</a:t>
            </a:r>
            <a:r>
              <a:rPr lang="en-US" dirty="0">
                <a:solidFill>
                  <a:srgbClr val="FFFFFF"/>
                </a:solidFill>
                <a:latin typeface="Aptos"/>
              </a:rPr>
              <a:t>l Project | Zach Lawver | IT Pathways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822960" y="5541264"/>
            <a:ext cx="10515600" cy="3657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00A2AC-F0DD-43B7-B7E7-C2CBC64D2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415" y="759463"/>
            <a:ext cx="8698860" cy="2899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The problem and who uses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11064240" cy="381643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sz="2000" dirty="0">
                <a:solidFill>
                  <a:srgbClr val="0C2743"/>
                </a:solidFill>
                <a:latin typeface="Aptos"/>
              </a:rPr>
              <a:t>The operational issue: PLC code can change without a clear, accessible record of what changed.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02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49808" y="1581912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508760"/>
            <a:ext cx="626364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Maintenance and controls technicians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801368"/>
            <a:ext cx="626364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Need to find the last known program and quickly identify logic changes.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816352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743200"/>
            <a:ext cx="626364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Engineering and plant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35808"/>
            <a:ext cx="626364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Need a consistent controller inventory, backup history, and traceability.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050791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3977639"/>
            <a:ext cx="626364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Plant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270248"/>
            <a:ext cx="626364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Need reduced troubleshooting delays and fewer undocumented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600200"/>
            <a:ext cx="3657600" cy="352044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847088"/>
            <a:ext cx="310896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Without a controlled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487168"/>
            <a:ext cx="3154680" cy="2286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Unknown version</a:t>
            </a:r>
          </a:p>
          <a:p>
            <a:pPr>
              <a:spcAft>
                <a:spcPts val="700"/>
              </a:spcAft>
              <a:defRPr sz="18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→ Time spent investigating</a:t>
            </a:r>
          </a:p>
          <a:p>
            <a:pPr>
              <a:spcAft>
                <a:spcPts val="700"/>
              </a:spcAft>
              <a:defRPr sz="18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→ Risk of restoring the wrong file</a:t>
            </a:r>
          </a:p>
          <a:p>
            <a:pPr>
              <a:spcAft>
                <a:spcPts val="700"/>
              </a:spcAft>
              <a:defRPr sz="18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→ Limited accountability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The solution: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10642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sz="1600" dirty="0">
                <a:solidFill>
                  <a:srgbClr val="0C2743"/>
                </a:solidFill>
                <a:latin typeface="Aptos"/>
              </a:rPr>
              <a:t>A single web-based workflow connects controller identity, backup files, program comparison, and human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490472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417320"/>
            <a:ext cx="1046988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Discover and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709928"/>
            <a:ext cx="1046988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Identify controllers on the industrial network and associate them with records.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816352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743200"/>
            <a:ext cx="1046988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Capture and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035808"/>
            <a:ext cx="1046988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Use L5X program files to compare against the accepted baseline or previous backup.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4142232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4069080"/>
            <a:ext cx="1046988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Review before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361688"/>
            <a:ext cx="1046988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Show highlighted ladder differences and queue changes for technician approval.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596128"/>
            <a:ext cx="10744200" cy="5029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5733288"/>
            <a:ext cx="101498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92A40"/>
                </a:solidFill>
                <a:latin typeface="Aptos"/>
              </a:defRPr>
            </a:pPr>
            <a:r>
              <a:rPr sz="1600" dirty="0">
                <a:solidFill>
                  <a:srgbClr val="0C2743"/>
                </a:solidFill>
                <a:latin typeface="Aptos"/>
              </a:rPr>
              <a:t>Design principle: the system identifies changes; a technician decides what becomes the accepted version.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35D031-3CD0-5832-788A-336DC828FD52}"/>
              </a:ext>
            </a:extLst>
          </p:cNvPr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03</a:t>
            </a:r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Complete system architecture and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_clean_infographic_diagram_on_a_white_back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41832"/>
            <a:ext cx="11640312" cy="5458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74C962-D99D-4A0C-3F5D-AB63E8392A5F}"/>
              </a:ext>
            </a:extLst>
          </p:cNvPr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04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Data flow 1–2 | Discover and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10642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sz="1600" dirty="0">
                <a:solidFill>
                  <a:srgbClr val="0C2743"/>
                </a:solidFill>
                <a:latin typeface="Aptos"/>
              </a:rPr>
              <a:t>Where controller information originates and which module retrieves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58368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ace_crop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30597"/>
            <a:ext cx="6446520" cy="16254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371600"/>
            <a:ext cx="425196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0375" y="1581912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7" y="1632204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1581912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Network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2029967"/>
            <a:ext cx="3172968" cy="1148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Network Monitoring / Discovery scans the 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existing</a:t>
            </a:r>
            <a:r>
              <a:rPr dirty="0">
                <a:solidFill>
                  <a:srgbClr val="0C2743"/>
                </a:solidFill>
                <a:latin typeface="Aptos"/>
              </a:rPr>
              <a:t> PLC network and reads controller identity.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 </a:t>
            </a:r>
          </a:p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580375" y="3700035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62671" y="3709180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3658888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Controller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1" y="4106943"/>
            <a:ext cx="3172968" cy="81253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The monitor sends controller details to the web application for registration and display.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 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5879592"/>
            <a:ext cx="1088136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06CC2"/>
                </a:solidFill>
                <a:latin typeface="Aptos"/>
              </a:rPr>
              <a:t>Data: IP address • model • firmware • controller identity → Web application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F96FE9-C4A9-8DA6-DC55-C1081419D278}"/>
              </a:ext>
            </a:extLst>
          </p:cNvPr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05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Data flow 3–4 | Register and ingest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10642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sz="1600" dirty="0">
                <a:solidFill>
                  <a:srgbClr val="0C2743"/>
                </a:solidFill>
                <a:latin typeface="Aptos"/>
              </a:rPr>
              <a:t>How records are stored and how a new program file enters TRACE.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58368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ace_crop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16611"/>
            <a:ext cx="6446520" cy="28533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371600"/>
            <a:ext cx="425196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0375" y="1581912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7" y="1632204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1581912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Database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2029967"/>
            <a:ext cx="3172968" cy="81253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The web application reads and updates controller records and backup </a:t>
            </a:r>
            <a:r>
              <a:rPr b="1" dirty="0">
                <a:solidFill>
                  <a:srgbClr val="0C2743"/>
                </a:solidFill>
                <a:latin typeface="Aptos"/>
              </a:rPr>
              <a:t>metadata</a:t>
            </a:r>
            <a:r>
              <a:rPr dirty="0">
                <a:solidFill>
                  <a:srgbClr val="0C2743"/>
                </a:solidFill>
                <a:latin typeface="Aptos"/>
              </a:rPr>
              <a:t> in SQL Server.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3456432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7" y="3506724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3456432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L5X upload and parsing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3904487"/>
            <a:ext cx="3172968" cy="155119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lang="en-US" dirty="0">
                <a:solidFill>
                  <a:srgbClr val="0C2743"/>
                </a:solidFill>
                <a:latin typeface="Aptos"/>
              </a:rPr>
              <a:t>When the system automatically detects changes or is manually instructed,  the web application initiates an upload of </a:t>
            </a:r>
            <a:r>
              <a:rPr dirty="0">
                <a:solidFill>
                  <a:srgbClr val="0C2743"/>
                </a:solidFill>
                <a:latin typeface="Aptos"/>
              </a:rPr>
              <a:t> an L5X file; the parser extracts logic and tags for the comparison engine.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79592"/>
            <a:ext cx="10881360" cy="30469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006CC2"/>
                </a:solidFill>
                <a:latin typeface="Aptos"/>
              </a:rPr>
              <a:t>Data: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C</a:t>
            </a:r>
            <a:r>
              <a:rPr dirty="0">
                <a:solidFill>
                  <a:srgbClr val="006CC2"/>
                </a:solidFill>
                <a:latin typeface="Aptos"/>
              </a:rPr>
              <a:t>ontroller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M</a:t>
            </a:r>
            <a:r>
              <a:rPr dirty="0">
                <a:solidFill>
                  <a:srgbClr val="006CC2"/>
                </a:solidFill>
                <a:latin typeface="Aptos"/>
              </a:rPr>
              <a:t>etadata → SQL  | 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U</a:t>
            </a:r>
            <a:r>
              <a:rPr dirty="0">
                <a:solidFill>
                  <a:srgbClr val="006CC2"/>
                </a:solidFill>
                <a:latin typeface="Aptos"/>
              </a:rPr>
              <a:t>ploaded L5X →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P</a:t>
            </a:r>
            <a:r>
              <a:rPr dirty="0">
                <a:solidFill>
                  <a:srgbClr val="006CC2"/>
                </a:solidFill>
                <a:latin typeface="Aptos"/>
              </a:rPr>
              <a:t>arsed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P</a:t>
            </a:r>
            <a:r>
              <a:rPr dirty="0">
                <a:solidFill>
                  <a:srgbClr val="006CC2"/>
                </a:solidFill>
                <a:latin typeface="Aptos"/>
              </a:rPr>
              <a:t>rogram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S</a:t>
            </a:r>
            <a:r>
              <a:rPr dirty="0">
                <a:solidFill>
                  <a:srgbClr val="006CC2"/>
                </a:solidFill>
                <a:latin typeface="Aptos"/>
              </a:rPr>
              <a:t>tructure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49E35F-E598-9335-0CE5-990A96163873}"/>
              </a:ext>
            </a:extLst>
          </p:cNvPr>
          <p:cNvSpPr txBox="1"/>
          <p:nvPr/>
        </p:nvSpPr>
        <p:spPr>
          <a:xfrm>
            <a:off x="515112" y="652424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06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Data flow 5–6 | Compare and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10642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sz="1600">
                <a:solidFill>
                  <a:srgbClr val="0C2743"/>
                </a:solidFill>
                <a:latin typeface="Aptos"/>
              </a:rPr>
              <a:t>How two versions become a reviewable change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58368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ace_crop_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283635"/>
            <a:ext cx="6446520" cy="251932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371600"/>
            <a:ext cx="425196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0375" y="1581912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7" y="1632204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1581912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Comparison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2029967"/>
            <a:ext cx="3172968" cy="155119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Reads 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current backup logic</a:t>
            </a:r>
            <a:r>
              <a:rPr dirty="0">
                <a:solidFill>
                  <a:srgbClr val="0C2743"/>
                </a:solidFill>
                <a:latin typeface="Aptos"/>
              </a:rPr>
              <a:t> and new 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upload </a:t>
            </a:r>
            <a:r>
              <a:rPr dirty="0">
                <a:solidFill>
                  <a:srgbClr val="0C2743"/>
                </a:solidFill>
                <a:latin typeface="Aptos"/>
              </a:rPr>
              <a:t>logic, identifies differences, and produces highlighted ladder diagrams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 using an SVG engine to simulate Rockwell graphics</a:t>
            </a:r>
            <a:r>
              <a:rPr dirty="0">
                <a:solidFill>
                  <a:srgbClr val="0C2743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3878581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7" y="3928873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3878581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Store comparison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4326636"/>
            <a:ext cx="3172968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Sends change details and review status back to the web application and SQL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79592"/>
            <a:ext cx="10881360" cy="30469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006CC2"/>
                </a:solidFill>
                <a:latin typeface="Aptos"/>
              </a:rPr>
              <a:t>Data: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Backed up Logic</a:t>
            </a:r>
            <a:r>
              <a:rPr dirty="0">
                <a:solidFill>
                  <a:srgbClr val="006CC2"/>
                </a:solidFill>
                <a:latin typeface="Aptos"/>
              </a:rPr>
              <a:t> +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N</a:t>
            </a:r>
            <a:r>
              <a:rPr dirty="0">
                <a:solidFill>
                  <a:srgbClr val="006CC2"/>
                </a:solidFill>
                <a:latin typeface="Aptos"/>
              </a:rPr>
              <a:t>ew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 Uploaded</a:t>
            </a:r>
            <a:r>
              <a:rPr dirty="0">
                <a:solidFill>
                  <a:srgbClr val="006CC2"/>
                </a:solidFill>
                <a:latin typeface="Aptos"/>
              </a:rPr>
              <a:t>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L</a:t>
            </a:r>
            <a:r>
              <a:rPr dirty="0">
                <a:solidFill>
                  <a:srgbClr val="006CC2"/>
                </a:solidFill>
                <a:latin typeface="Aptos"/>
              </a:rPr>
              <a:t>ogic →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C</a:t>
            </a:r>
            <a:r>
              <a:rPr dirty="0">
                <a:solidFill>
                  <a:srgbClr val="006CC2"/>
                </a:solidFill>
                <a:latin typeface="Aptos"/>
              </a:rPr>
              <a:t>hange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R</a:t>
            </a:r>
            <a:r>
              <a:rPr dirty="0">
                <a:solidFill>
                  <a:srgbClr val="006CC2"/>
                </a:solidFill>
                <a:latin typeface="Aptos"/>
              </a:rPr>
              <a:t>esults + SVG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D</a:t>
            </a:r>
            <a:r>
              <a:rPr dirty="0">
                <a:solidFill>
                  <a:srgbClr val="006CC2"/>
                </a:solidFill>
                <a:latin typeface="Aptos"/>
              </a:rPr>
              <a:t>iagrams →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W</a:t>
            </a:r>
            <a:r>
              <a:rPr dirty="0">
                <a:solidFill>
                  <a:srgbClr val="006CC2"/>
                </a:solidFill>
                <a:latin typeface="Aptos"/>
              </a:rPr>
              <a:t>eb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A</a:t>
            </a:r>
            <a:r>
              <a:rPr dirty="0">
                <a:solidFill>
                  <a:srgbClr val="006CC2"/>
                </a:solidFill>
                <a:latin typeface="Aptos"/>
              </a:rPr>
              <a:t>pp / SQL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C65474-C2BC-4DC0-5702-914FC12E5F6C}"/>
              </a:ext>
            </a:extLst>
          </p:cNvPr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07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Data flow 7–8 | Scheduled checks and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10642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sz="1600">
                <a:solidFill>
                  <a:srgbClr val="0C2743"/>
                </a:solidFill>
                <a:latin typeface="Aptos"/>
              </a:rPr>
              <a:t>The intended automated operating loop and technician decision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58368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race_crop_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1" y="2029967"/>
            <a:ext cx="6446520" cy="306019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33488" y="1371600"/>
            <a:ext cx="4251960" cy="4389120"/>
          </a:xfrm>
          <a:prstGeom prst="round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80375" y="1581912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53527" y="1632204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1581912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Scheduled uploads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2029967"/>
            <a:ext cx="3172968" cy="1058751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Backup Manager requests PLC program retrieval through network 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polling</a:t>
            </a:r>
            <a:r>
              <a:rPr dirty="0">
                <a:solidFill>
                  <a:srgbClr val="0C2743"/>
                </a:solidFill>
                <a:latin typeface="Aptos"/>
              </a:rPr>
              <a:t> on a schedule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, checking </a:t>
            </a:r>
            <a:r>
              <a:rPr lang="en-US" dirty="0" err="1">
                <a:solidFill>
                  <a:srgbClr val="0C2743"/>
                </a:solidFill>
                <a:latin typeface="Aptos"/>
              </a:rPr>
              <a:t>AuditValue</a:t>
            </a:r>
            <a:r>
              <a:rPr lang="en-US" dirty="0">
                <a:solidFill>
                  <a:srgbClr val="0C2743"/>
                </a:solidFill>
                <a:latin typeface="Aptos"/>
              </a:rPr>
              <a:t> tags through </a:t>
            </a:r>
            <a:r>
              <a:rPr lang="en-US" dirty="0" err="1">
                <a:solidFill>
                  <a:srgbClr val="0C2743"/>
                </a:solidFill>
                <a:latin typeface="Aptos"/>
              </a:rPr>
              <a:t>CIPdriver</a:t>
            </a:r>
            <a:r>
              <a:rPr dirty="0">
                <a:solidFill>
                  <a:srgbClr val="0C2743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3456432"/>
            <a:ext cx="402336" cy="402336"/>
          </a:xfrm>
          <a:prstGeom prst="round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7" y="3506724"/>
            <a:ext cx="274320" cy="26517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3" y="3456432"/>
            <a:ext cx="3182112" cy="35661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Pending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3904487"/>
            <a:ext cx="3172968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Changed files are compared; the web app queues differences for technician approval or discard.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79592"/>
            <a:ext cx="10881360" cy="304699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006CC2"/>
                </a:solidFill>
                <a:latin typeface="Aptos"/>
              </a:rPr>
              <a:t>Data: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S</a:t>
            </a:r>
            <a:r>
              <a:rPr dirty="0">
                <a:solidFill>
                  <a:srgbClr val="006CC2"/>
                </a:solidFill>
                <a:latin typeface="Aptos"/>
              </a:rPr>
              <a:t>cheduled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P</a:t>
            </a:r>
            <a:r>
              <a:rPr dirty="0">
                <a:solidFill>
                  <a:srgbClr val="006CC2"/>
                </a:solidFill>
                <a:latin typeface="Aptos"/>
              </a:rPr>
              <a:t>rogram →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C</a:t>
            </a:r>
            <a:r>
              <a:rPr dirty="0">
                <a:solidFill>
                  <a:srgbClr val="006CC2"/>
                </a:solidFill>
                <a:latin typeface="Aptos"/>
              </a:rPr>
              <a:t>omparison →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P</a:t>
            </a:r>
            <a:r>
              <a:rPr dirty="0">
                <a:solidFill>
                  <a:srgbClr val="006CC2"/>
                </a:solidFill>
                <a:latin typeface="Aptos"/>
              </a:rPr>
              <a:t>ending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R</a:t>
            </a:r>
            <a:r>
              <a:rPr dirty="0">
                <a:solidFill>
                  <a:srgbClr val="006CC2"/>
                </a:solidFill>
                <a:latin typeface="Aptos"/>
              </a:rPr>
              <a:t>esult →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T</a:t>
            </a:r>
            <a:r>
              <a:rPr dirty="0">
                <a:solidFill>
                  <a:srgbClr val="006CC2"/>
                </a:solidFill>
                <a:latin typeface="Aptos"/>
              </a:rPr>
              <a:t>echnician </a:t>
            </a:r>
            <a:r>
              <a:rPr lang="en-US" dirty="0">
                <a:solidFill>
                  <a:srgbClr val="006CC2"/>
                </a:solidFill>
                <a:latin typeface="Aptos"/>
              </a:rPr>
              <a:t>D</a:t>
            </a:r>
            <a:r>
              <a:rPr dirty="0">
                <a:solidFill>
                  <a:srgbClr val="006CC2"/>
                </a:solidFill>
                <a:latin typeface="Aptos"/>
              </a:rPr>
              <a:t>ecision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FC3302-C9BB-D3D5-A772-B3300E5652C8}"/>
              </a:ext>
            </a:extLst>
          </p:cNvPr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08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Working demonstration | What TRACE shows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10642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lang="en-US" sz="1600" dirty="0">
                <a:solidFill>
                  <a:srgbClr val="0C2743"/>
                </a:solidFill>
                <a:latin typeface="Aptos"/>
              </a:rPr>
              <a:t>Step By Step Demo</a:t>
            </a:r>
            <a:endParaRPr sz="1600" dirty="0"/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7C64A0-633A-390A-9DD0-87494E76A31C}"/>
              </a:ext>
            </a:extLst>
          </p:cNvPr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09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8E31C-0E5D-2A20-8F0B-B09816BF2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367" y="1182842"/>
            <a:ext cx="10220960" cy="523183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Design decisions, tradeoffs, and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7496"/>
            <a:ext cx="110642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sz="1600" dirty="0">
                <a:solidFill>
                  <a:srgbClr val="0C2743"/>
                </a:solidFill>
                <a:latin typeface="Aptos"/>
              </a:rPr>
              <a:t>The cheapest software stack is not necessarily the cheapest system to maintain.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96872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23720"/>
            <a:ext cx="1056132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Python / Flask + SQL Server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16328"/>
            <a:ext cx="105613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Low licensing cost and flexible development; requires internal support and 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67304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994152"/>
            <a:ext cx="1056132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SQL records + separate L5X file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86759"/>
            <a:ext cx="105613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Easy searchable metadata without bloating the database; files and records must stay synchronized.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37736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" y="4164584"/>
            <a:ext cx="1056132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Human approval of detected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457192"/>
            <a:ext cx="105613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Prevents silent acceptance of an unintended edit; creates a review workload.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408168"/>
            <a:ext cx="91440" cy="91440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5335016"/>
            <a:ext cx="10561320" cy="2743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D2C39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Industrial-network access and 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5627624"/>
            <a:ext cx="105613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0C2743"/>
                </a:solidFill>
                <a:latin typeface="Aptos"/>
              </a:rPr>
              <a:t>Limit approved subnets and permissions; protect backups and validate recovery procedures.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4881F4-1491-ADF9-677A-5CC81A410DC8}"/>
              </a:ext>
            </a:extLst>
          </p:cNvPr>
          <p:cNvSpPr txBox="1"/>
          <p:nvPr/>
        </p:nvSpPr>
        <p:spPr>
          <a:xfrm>
            <a:off x="530352" y="6547104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10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5488" y="164592"/>
            <a:ext cx="11247120" cy="43891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Estimated commercial implementation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1064240" cy="32008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lang="en-US" sz="1600" dirty="0">
                <a:solidFill>
                  <a:srgbClr val="0C2743"/>
                </a:solidFill>
                <a:latin typeface="Aptos"/>
              </a:rPr>
              <a:t>Estimates reflect s</a:t>
            </a:r>
            <a:r>
              <a:rPr sz="1600" dirty="0">
                <a:solidFill>
                  <a:srgbClr val="0C2743"/>
                </a:solidFill>
                <a:latin typeface="Aptos"/>
              </a:rPr>
              <a:t>ingle manufacturing facility • </a:t>
            </a:r>
            <a:r>
              <a:rPr lang="en-US" sz="1600" dirty="0">
                <a:solidFill>
                  <a:srgbClr val="0C2743"/>
                </a:solidFill>
                <a:latin typeface="Aptos"/>
              </a:rPr>
              <a:t>Using </a:t>
            </a:r>
            <a:r>
              <a:rPr sz="1600" dirty="0">
                <a:solidFill>
                  <a:srgbClr val="0C2743"/>
                </a:solidFill>
                <a:latin typeface="Aptos"/>
              </a:rPr>
              <a:t>existing plant network</a:t>
            </a:r>
            <a:r>
              <a:rPr lang="en-US" sz="1600" dirty="0">
                <a:solidFill>
                  <a:srgbClr val="0C2743"/>
                </a:solidFill>
                <a:latin typeface="Aptos"/>
              </a:rPr>
              <a:t> and existing network server.</a:t>
            </a:r>
            <a:endParaRPr sz="1600" dirty="0"/>
          </a:p>
        </p:txBody>
      </p:sp>
      <p:sp>
        <p:nvSpPr>
          <p:cNvPr id="5" name="Rectangle 4"/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9808" y="1435608"/>
            <a:ext cx="10716768" cy="594360"/>
          </a:xfrm>
          <a:prstGeom prst="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554480"/>
            <a:ext cx="50749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Software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32461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120 hr × $100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554480"/>
            <a:ext cx="150876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700"/>
              </a:spcAft>
              <a:defRPr sz="17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$12,000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093976"/>
            <a:ext cx="1071676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2212848"/>
            <a:ext cx="50749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Network and database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212848"/>
            <a:ext cx="32461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24 hr × $100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212848"/>
            <a:ext cx="150876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700"/>
              </a:spcAft>
              <a:defRPr sz="17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$2,400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752344"/>
            <a:ext cx="10716768" cy="594360"/>
          </a:xfrm>
          <a:prstGeom prst="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2871215"/>
            <a:ext cx="50749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Testing and 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71215"/>
            <a:ext cx="32461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20 hr × $100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871215"/>
            <a:ext cx="150876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700"/>
              </a:spcAft>
              <a:defRPr sz="17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$2,000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410711"/>
            <a:ext cx="1071676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3529583"/>
            <a:ext cx="50749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Deployment and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529583"/>
            <a:ext cx="32461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12 hr × $100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529583"/>
            <a:ext cx="150876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700"/>
              </a:spcAft>
              <a:defRPr sz="17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$1,200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" y="4069079"/>
            <a:ext cx="10716768" cy="594360"/>
          </a:xfrm>
          <a:prstGeom prst="rect">
            <a:avLst/>
          </a:prstGeom>
          <a:solidFill>
            <a:srgbClr val="E7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" y="4187951"/>
            <a:ext cx="50749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Python / Flask / SQL Express licenses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4187951"/>
            <a:ext cx="32461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No new licenses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187951"/>
            <a:ext cx="150876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700"/>
              </a:spcAft>
              <a:defRPr sz="17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$0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8" y="4727447"/>
            <a:ext cx="1071676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4846319"/>
            <a:ext cx="50749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D2C39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Contingency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846319"/>
            <a:ext cx="324612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Approx. 12.5% of labor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846319"/>
            <a:ext cx="1508760" cy="32918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700"/>
              </a:spcAft>
              <a:defRPr sz="1700" b="1">
                <a:solidFill>
                  <a:srgbClr val="092A40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$2,200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5522976"/>
            <a:ext cx="10716768" cy="704088"/>
          </a:xfrm>
          <a:prstGeom prst="round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5660136"/>
            <a:ext cx="4572000" cy="39319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INITIAL ESTIMATE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5632704"/>
            <a:ext cx="2176272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$19,800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6272784"/>
            <a:ext cx="10515600" cy="25603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B6F7D"/>
                </a:solidFill>
                <a:latin typeface="Aptos"/>
              </a:defRPr>
            </a:pPr>
            <a:r>
              <a:rPr>
                <a:solidFill>
                  <a:srgbClr val="0C2743"/>
                </a:solidFill>
                <a:latin typeface="Aptos"/>
              </a:rPr>
              <a:t>Ongoing support estimate: $2,400/year (24 hours at $100/hour). Automatic PLC uploads and production hardening require separate validation and may increase cost.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7299E8-F6CC-8B0B-483E-1BBAEAECD8B5}"/>
              </a:ext>
            </a:extLst>
          </p:cNvPr>
          <p:cNvSpPr txBox="1"/>
          <p:nvPr/>
        </p:nvSpPr>
        <p:spPr>
          <a:xfrm>
            <a:off x="521207" y="6595342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486585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Zach Lawver </a:t>
            </a:r>
            <a:r>
              <a:rPr dirty="0">
                <a:solidFill>
                  <a:srgbClr val="486585"/>
                </a:solidFill>
                <a:latin typeface="Aptos"/>
              </a:rPr>
              <a:t>•  </a:t>
            </a:r>
            <a:r>
              <a:rPr lang="en-US" dirty="0">
                <a:solidFill>
                  <a:srgbClr val="486585"/>
                </a:solidFill>
                <a:latin typeface="Aptos"/>
              </a:rPr>
              <a:t>IT Pathways  •  11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0" y="722376"/>
            <a:ext cx="12192000" cy="41148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0" y="768096"/>
            <a:ext cx="41148" cy="5623560"/>
          </a:xfrm>
          <a:prstGeom prst="rect">
            <a:avLst/>
          </a:prstGeom>
          <a:solidFill>
            <a:srgbClr val="006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5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8DCB5-D54B-5100-D04F-F8D6A2B7A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1753E1-5BC1-123B-8F14-A600046BFA34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5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0B6B9-0A14-DC12-0E3B-CFB728C1B2EA}"/>
              </a:ext>
            </a:extLst>
          </p:cNvPr>
          <p:cNvSpPr txBox="1"/>
          <p:nvPr/>
        </p:nvSpPr>
        <p:spPr>
          <a:xfrm>
            <a:off x="475488" y="164592"/>
            <a:ext cx="11247120" cy="458587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rPr lang="en-US" dirty="0">
                <a:solidFill>
                  <a:srgbClr val="FFFFFF"/>
                </a:solidFill>
                <a:latin typeface="Aptos"/>
              </a:rPr>
              <a:t>Q&amp;A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C0E6A0-4489-2325-D97E-3069F5C27978}"/>
              </a:ext>
            </a:extLst>
          </p:cNvPr>
          <p:cNvSpPr txBox="1"/>
          <p:nvPr/>
        </p:nvSpPr>
        <p:spPr>
          <a:xfrm>
            <a:off x="3907888" y="4205341"/>
            <a:ext cx="4375913" cy="1181862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5B6F7D"/>
                </a:solidFill>
                <a:latin typeface="Aptos"/>
              </a:defRPr>
            </a:pPr>
            <a:r>
              <a:rPr lang="en-US" sz="7200" dirty="0">
                <a:solidFill>
                  <a:srgbClr val="FFFFFF"/>
                </a:solidFill>
                <a:latin typeface="Aptos"/>
              </a:rPr>
              <a:t>Q&amp;A</a:t>
            </a:r>
            <a:endParaRPr sz="7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39DF87-467C-E646-0876-661C0EDC420F}"/>
              </a:ext>
            </a:extLst>
          </p:cNvPr>
          <p:cNvSpPr/>
          <p:nvPr/>
        </p:nvSpPr>
        <p:spPr>
          <a:xfrm>
            <a:off x="475488" y="6510528"/>
            <a:ext cx="11201400" cy="1371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105B0A-6A57-B34E-54CF-3E585D79FC26}"/>
              </a:ext>
            </a:extLst>
          </p:cNvPr>
          <p:cNvSpPr txBox="1"/>
          <p:nvPr/>
        </p:nvSpPr>
        <p:spPr>
          <a:xfrm>
            <a:off x="521207" y="6595342"/>
            <a:ext cx="6400800" cy="212366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5B6F7D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TRACE  •  </a:t>
            </a:r>
            <a:r>
              <a:rPr lang="en-US" dirty="0">
                <a:solidFill>
                  <a:srgbClr val="FFFFFF"/>
                </a:solidFill>
                <a:latin typeface="Aptos"/>
              </a:rPr>
              <a:t>Zach Lawver </a:t>
            </a:r>
            <a:r>
              <a:rPr dirty="0">
                <a:solidFill>
                  <a:srgbClr val="FFFFFF"/>
                </a:solidFill>
                <a:latin typeface="Aptos"/>
              </a:rPr>
              <a:t>•  </a:t>
            </a:r>
            <a:r>
              <a:rPr lang="en-US" dirty="0">
                <a:solidFill>
                  <a:srgbClr val="FFFFFF"/>
                </a:solidFill>
                <a:latin typeface="Aptos"/>
              </a:rPr>
              <a:t>IT Pathways  •  12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822960" y="5541264"/>
            <a:ext cx="10515600" cy="36576"/>
          </a:xfrm>
          <a:prstGeom prst="rect">
            <a:avLst/>
          </a:prstGeom>
          <a:solidFill>
            <a:srgbClr val="00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A28B9B-8349-CBF1-405D-9C9E648FC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415" y="1073322"/>
            <a:ext cx="8698860" cy="289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919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1237</Words>
  <Application>Microsoft Office PowerPoint</Application>
  <PresentationFormat>Widescreen</PresentationFormat>
  <Paragraphs>121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Zach Lawver</dc:creator>
  <cp:keywords/>
  <dc:description>generated using python-pptx</dc:description>
  <cp:lastModifiedBy>Zach Lawver</cp:lastModifiedBy>
  <cp:revision>4</cp:revision>
  <dcterms:created xsi:type="dcterms:W3CDTF">2013-01-27T09:14:16Z</dcterms:created>
  <dcterms:modified xsi:type="dcterms:W3CDTF">2026-10-14T14:35:01Z</dcterms:modified>
  <cp:category/>
</cp:coreProperties>
</file>